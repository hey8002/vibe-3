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8686800" cy="6858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200"/>
              </a:spcAft>
              <a:defRPr sz="3400" b="1">
                <a:solidFill>
                  <a:srgbClr val="FFFFFF"/>
                </a:solidFill>
                <a:latin typeface="Malgun Gothic"/>
              </a:defRPr>
            </a:pPr>
            <a:r>
              <a:t>day3_rpa 프로젝트 구조 상세 도식화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0120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Malgun Gothic"/>
              </a:defRPr>
            </a:pPr>
            <a:r>
              <a:t>공공직군 행정업무 슈퍼앱: Frontend + Backend + SQLite + RAG/Excel/News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286000" cy="640080"/>
          </a:xfrm>
          <a:prstGeom prst="roundRect">
            <a:avLst/>
          </a:prstGeom>
          <a:solidFill>
            <a:srgbClr val="2563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React + TypeScript + Vite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743200"/>
            <a:ext cx="2194560" cy="640080"/>
          </a:xfrm>
          <a:prstGeom prst="roundRect">
            <a:avLst/>
          </a:prstGeom>
          <a:solidFill>
            <a:srgbClr val="0D948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Python + FastAPI + uv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743200"/>
            <a:ext cx="1645920" cy="640080"/>
          </a:xfrm>
          <a:prstGeom prst="roundRect">
            <a:avLst/>
          </a:prstGeom>
          <a:solidFill>
            <a:srgbClr val="16A34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SQLite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743200"/>
            <a:ext cx="2057400" cy="640080"/>
          </a:xfrm>
          <a:prstGeom prst="roundRect">
            <a:avLst/>
          </a:prstGeom>
          <a:solidFill>
            <a:srgbClr val="EA580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OpenAI API +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731520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생성 파일: docs/project_structure_diagram.pptx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148840" cy="22860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algun Gothic"/>
              </a:rPr>
              <a:t>day3_rpa 프로젝트 구조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772400" cy="41148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1. 전체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64592"/>
            <a:ext cx="3474720" cy="32004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Malgun Gothic"/>
              </a:rPr>
              <a:t>Client - API - Service -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560320"/>
            <a:ext cx="1508760" cy="685800"/>
          </a:xfrm>
          <a:prstGeom prst="roundRect">
            <a:avLst/>
          </a:prstGeom>
          <a:solidFill>
            <a:srgbClr val="F59E0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0F172A"/>
                </a:solidFill>
                <a:latin typeface="Malgun Gothic"/>
              </a:rPr>
              <a:t>사용자
브라우저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2148840"/>
            <a:ext cx="2148840" cy="1508760"/>
          </a:xfrm>
          <a:prstGeom prst="roundRect">
            <a:avLst/>
          </a:prstGeom>
          <a:solidFill>
            <a:srgbClr val="2563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Frontend
React / TS / Vite
GitHub Pages 대상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2148840"/>
            <a:ext cx="2148840" cy="1508760"/>
          </a:xfrm>
          <a:prstGeom prst="roundRect">
            <a:avLst/>
          </a:prstGeom>
          <a:solidFill>
            <a:srgbClr val="0D948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Backend API
FastAPI / uvicorn
CORS + .env 로딩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51560"/>
            <a:ext cx="1828800" cy="685800"/>
          </a:xfrm>
          <a:prstGeom prst="roundRect">
            <a:avLst/>
          </a:prstGeom>
          <a:solidFill>
            <a:srgbClr val="DBEA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00" b="1">
                <a:solidFill>
                  <a:srgbClr val="0F172A"/>
                </a:solidFill>
                <a:latin typeface="Malgun Gothic"/>
              </a:rPr>
              <a:t>Excel 자동화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011680"/>
            <a:ext cx="1828800" cy="685800"/>
          </a:xfrm>
          <a:prstGeom prst="round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00" b="1">
                <a:solidFill>
                  <a:srgbClr val="0F172A"/>
                </a:solidFill>
                <a:latin typeface="Malgun Gothic"/>
              </a:rPr>
              <a:t>RAG 챗봇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971800"/>
            <a:ext cx="1828800" cy="685800"/>
          </a:xfrm>
          <a:prstGeom prst="roundRect">
            <a:avLst/>
          </a:prstGeom>
          <a:solidFill>
            <a:srgbClr val="DCFCE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00" b="1">
                <a:solidFill>
                  <a:srgbClr val="0F172A"/>
                </a:solidFill>
                <a:latin typeface="Malgun Gothic"/>
              </a:rPr>
              <a:t>뉴스 수집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20" y="1920240"/>
            <a:ext cx="1188720" cy="777240"/>
          </a:xfrm>
          <a:prstGeom prst="roundRect">
            <a:avLst/>
          </a:prstGeom>
          <a:solidFill>
            <a:srgbClr val="16A34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SQLite
app.db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61320" y="3063240"/>
            <a:ext cx="1188720" cy="868680"/>
          </a:xfrm>
          <a:prstGeom prst="roundRect">
            <a:avLst/>
          </a:prstGeom>
          <a:solidFill>
            <a:srgbClr val="64748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업로드/결과
파일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11680" y="2903220"/>
            <a:ext cx="6400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00600" y="2903220"/>
            <a:ext cx="6400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589520" y="1394460"/>
            <a:ext cx="640080" cy="150876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589520" y="2354580"/>
            <a:ext cx="640080" cy="5486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89520" y="2903220"/>
            <a:ext cx="640080" cy="41148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58400" y="1394460"/>
            <a:ext cx="502920" cy="91440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058400" y="2308860"/>
            <a:ext cx="502920" cy="457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058400" y="2308860"/>
            <a:ext cx="502920" cy="10058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58400" y="1394460"/>
            <a:ext cx="502920" cy="21031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2354580"/>
            <a:ext cx="502920" cy="114300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5074920"/>
            <a:ext cx="10789920" cy="5029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Malgun Gothic"/>
              </a:defRPr>
            </a:pPr>
            <a:r>
              <a:t>핵심 흐름: 브라우저 UI → /api REST 호출 → FastAPI 라우터 → 서비스 계층 처리 → SQLite/파일 저장소 반영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10528"/>
            <a:ext cx="2148840" cy="22860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algun Gothic"/>
              </a:rPr>
              <a:t>day3_rpa 프로젝트 구조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772400" cy="41148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2. 루트 디렉터리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64592"/>
            <a:ext cx="3474720" cy="32004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Malgun Gothic"/>
              </a:rPr>
              <a:t>실제 파일 기준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24128"/>
            <a:ext cx="5989320" cy="5257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l"/>
            <a:r>
              <a:rPr sz="1200" b="0">
                <a:solidFill>
                  <a:srgbClr val="0F172A"/>
                </a:solidFill>
                <a:latin typeface="Consolas"/>
              </a:rPr>
              <a:t>day3_rpa/
├─ frontend/            React + TypeScript + Vite 클라이언트
│  ├─ src/app/           App shell, 메뉴, API URL 설정
│  ├─ src/pages/         Home, Schedule, Excel, Chatbot, News 화면
│  └─ src/shared/api/    fetch 기반 API 클라이언트
├─ backend/             FastAPI 서버
│  ├─ app/api/routes/    REST 엔드포인트
│  ├─ app/services/      Excel, News, Chatbot 비즈니스 로직
│  ├─ app/schemas/       요청/응답 Pydantic 스키마
│  ├─ app/core/          DB 경로, 설정
│  └─ data/              SQLite DB, 업로드/결과 파일 저장소
├─ docs/                PRD, Architecture, Operation, 발표자료
├─ .github/workflows/   GitHub Pages 배포 자동화
└─ .codex/.agent/       Codex 스킬 및 작업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143000"/>
            <a:ext cx="4526280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defRPr sz="1500" b="1">
                <a:solidFill>
                  <a:srgbClr val="2563EB"/>
                </a:solidFill>
                <a:latin typeface="Malgun Gothic"/>
              </a:defRPr>
            </a:pPr>
            <a:r>
              <a:t>분리 기준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frontend와 backend를 명확히 분리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docs는 요구사항/운영/아키텍처 문서 보관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data와 .env는 Git 제외 대상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2606040"/>
            <a:ext cx="4526280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defRPr sz="1500" b="1">
                <a:solidFill>
                  <a:srgbClr val="16A34A"/>
                </a:solidFill>
                <a:latin typeface="Malgun Gothic"/>
              </a:defRPr>
            </a:pPr>
            <a:r>
              <a:t>런타임 산출물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backend/data/app.db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backend/data/uploads, outputs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backend/data/chatbot_uploads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4069080"/>
            <a:ext cx="4526280" cy="13258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defRPr sz="1500" b="1">
                <a:solidFill>
                  <a:srgbClr val="EA580C"/>
                </a:solidFill>
                <a:latin typeface="Malgun Gothic"/>
              </a:defRPr>
            </a:pPr>
            <a:r>
              <a:t>주의 지점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실제 API 키는 backend/.env에만 보관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.env.example만 커밋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업로드 파일과 DB는 배포 산출물이 아님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148840" cy="22860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algun Gothic"/>
              </a:rPr>
              <a:t>day3_rpa 프로젝트 구조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772400" cy="41148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3. Frontend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64592"/>
            <a:ext cx="3474720" cy="32004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Malgun Gothic"/>
              </a:rPr>
              <a:t>React 화면과 API 클라이언트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201168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src/main.tsx
React 진입점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143000"/>
            <a:ext cx="214884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src/app/App.tsx
메뉴/페이지 전환/API URL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731520"/>
            <a:ext cx="1965960" cy="713232"/>
          </a:xfrm>
          <a:prstGeom prst="roundRect">
            <a:avLst/>
          </a:prstGeom>
          <a:solidFill>
            <a:srgbClr val="DBEA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000" b="1">
                <a:solidFill>
                  <a:srgbClr val="0F172A"/>
                </a:solidFill>
                <a:latin typeface="Malgun Gothic"/>
              </a:rPr>
              <a:t>HomePage
상태 확인
API URL 설정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691640"/>
            <a:ext cx="1965960" cy="713232"/>
          </a:xfrm>
          <a:prstGeom prst="roundRect">
            <a:avLst/>
          </a:prstGeom>
          <a:solidFill>
            <a:srgbClr val="DBEA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000" b="1">
                <a:solidFill>
                  <a:srgbClr val="0F172A"/>
                </a:solidFill>
                <a:latin typeface="Malgun Gothic"/>
              </a:rPr>
              <a:t>SchedulePage
일정 화면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651760"/>
            <a:ext cx="1965960" cy="713232"/>
          </a:xfrm>
          <a:prstGeom prst="roundRect">
            <a:avLst/>
          </a:prstGeom>
          <a:solidFill>
            <a:srgbClr val="DBEA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000" b="1">
                <a:solidFill>
                  <a:srgbClr val="0F172A"/>
                </a:solidFill>
                <a:latin typeface="Malgun Gothic"/>
              </a:rPr>
              <a:t>ExcelPage
엑셀 업로드/분리/병합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3611880"/>
            <a:ext cx="1965960" cy="713232"/>
          </a:xfrm>
          <a:prstGeom prst="roundRect">
            <a:avLst/>
          </a:prstGeom>
          <a:solidFill>
            <a:srgbClr val="DBEA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000" b="1">
                <a:solidFill>
                  <a:srgbClr val="0F172A"/>
                </a:solidFill>
                <a:latin typeface="Malgun Gothic"/>
              </a:rPr>
              <a:t>ChatbotPage
RAG 업로드/학습/질문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4572000"/>
            <a:ext cx="1965960" cy="713232"/>
          </a:xfrm>
          <a:prstGeom prst="roundRect">
            <a:avLst/>
          </a:prstGeom>
          <a:solidFill>
            <a:srgbClr val="DBEA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000" b="1">
                <a:solidFill>
                  <a:srgbClr val="0F172A"/>
                </a:solidFill>
                <a:latin typeface="Malgun Gothic"/>
              </a:rPr>
              <a:t>NewsPage
정책뉴스 수집/목록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143000"/>
            <a:ext cx="205740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00" b="1">
                <a:solidFill>
                  <a:srgbClr val="0F172A"/>
                </a:solidFill>
                <a:latin typeface="Malgun Gothic"/>
              </a:rPr>
              <a:t>src/shared/api/
base.ts
health.ts
excel.ts
chatbot.ts
news.ts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1485900"/>
            <a:ext cx="59436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394960" y="1088136"/>
            <a:ext cx="594360" cy="397764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55280" y="1088136"/>
            <a:ext cx="1234440" cy="1883664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94960" y="1485900"/>
            <a:ext cx="594360" cy="562356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80" y="2048256"/>
            <a:ext cx="1234440" cy="923544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394960" y="1485900"/>
            <a:ext cx="594360" cy="1522476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955280" y="2971800"/>
            <a:ext cx="1234440" cy="36576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94960" y="1485900"/>
            <a:ext cx="594360" cy="2482596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955280" y="2971800"/>
            <a:ext cx="1234440" cy="996696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394960" y="1485900"/>
            <a:ext cx="594360" cy="3442716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955280" y="2971800"/>
            <a:ext cx="1234440" cy="1956816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5715000"/>
            <a:ext cx="10789920" cy="41148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프론트는 App 상태(activePage)로 화면을 전환하며, API base URL은 localStorage 또는 VITE_API_BASE_URL로 설정됩니다.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10528"/>
            <a:ext cx="2148840" cy="22860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algun Gothic"/>
              </a:rPr>
              <a:t>day3_rpa 프로젝트 구조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772400" cy="41148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4. Backend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64592"/>
            <a:ext cx="3474720" cy="32004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Malgun Gothic"/>
              </a:rPr>
              <a:t>FastAPI 라우터 - 서비스 - 저장소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2057400" cy="777240"/>
          </a:xfrm>
          <a:prstGeom prst="roundRect">
            <a:avLst/>
          </a:prstGeom>
          <a:solidFill>
            <a:srgbClr val="0D948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app/main.py
FastAPI 앱 / CORS / .env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822960"/>
            <a:ext cx="1920240" cy="1143000"/>
          </a:xfrm>
          <a:prstGeom prst="roundRect">
            <a:avLst/>
          </a:prstGeom>
          <a:solidFill>
            <a:srgbClr val="CCFBF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000" b="1">
                <a:solidFill>
                  <a:srgbClr val="0F172A"/>
                </a:solidFill>
                <a:latin typeface="Malgun Gothic"/>
              </a:rPr>
              <a:t>api/routes
health.py
excel.py
chatbot.py
news.py
schedules.py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2423160"/>
            <a:ext cx="1920240" cy="868680"/>
          </a:xfrm>
          <a:prstGeom prst="roundRect">
            <a:avLst/>
          </a:prstGeom>
          <a:solidFill>
            <a:srgbClr val="E0F2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00" b="1">
                <a:solidFill>
                  <a:srgbClr val="0F172A"/>
                </a:solidFill>
                <a:latin typeface="Malgun Gothic"/>
              </a:rPr>
              <a:t>schemas
요청/응답 모델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822960"/>
            <a:ext cx="2194560" cy="2468880"/>
          </a:xfrm>
          <a:prstGeom prst="round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000" b="1">
                <a:solidFill>
                  <a:srgbClr val="0F172A"/>
                </a:solidFill>
                <a:latin typeface="Malgun Gothic"/>
              </a:rPr>
              <a:t>services
excel_processor/store/workbook
chatbot_pipeline/processor/store
news_collector/scheduler/store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822960"/>
            <a:ext cx="17830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core
config.py
database.py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2148840"/>
            <a:ext cx="1783080" cy="1143000"/>
          </a:xfrm>
          <a:prstGeom prst="roundRect">
            <a:avLst/>
          </a:prstGeom>
          <a:solidFill>
            <a:srgbClr val="16A34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data
app.db
uploads
outputs
chatbot_uploads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35640" y="1645920"/>
            <a:ext cx="1051560" cy="914400"/>
          </a:xfrm>
          <a:prstGeom prst="roundRect">
            <a:avLst/>
          </a:prstGeom>
          <a:solidFill>
            <a:srgbClr val="EA580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외부
OpenAI
정책브리핑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1348740"/>
            <a:ext cx="594360" cy="4572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246120" y="1394460"/>
            <a:ext cx="1920240" cy="146304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66360" y="1394460"/>
            <a:ext cx="685800" cy="66294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046720" y="1257300"/>
            <a:ext cx="594360" cy="80010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2057400"/>
            <a:ext cx="594360" cy="66294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46720" y="2057400"/>
            <a:ext cx="2788920" cy="4572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" y="4160520"/>
            <a:ext cx="3429000" cy="12344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defRPr sz="1500" b="1">
                <a:solidFill>
                  <a:srgbClr val="0D9488"/>
                </a:solidFill>
                <a:latin typeface="Malgun Gothic"/>
              </a:defRPr>
            </a:pPr>
            <a:r>
              <a:t>실행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cd backend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uv run uvicorn app.main:app --reload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OPENAI_API_KEY는 backend/.env에서 로드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160520"/>
            <a:ext cx="3429000" cy="12344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defRPr sz="1500" b="1">
                <a:solidFill>
                  <a:srgbClr val="EA580C"/>
                </a:solidFill>
                <a:latin typeface="Malgun Gothic"/>
              </a:defRPr>
            </a:pPr>
            <a:r>
              <a:t>주요 의존성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FastAPI, uvicorn, python-dotenv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openpyxl, pandas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LangChain, OpenAI, pypdf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BeautifulSoup4, APScheduler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160520"/>
            <a:ext cx="3337560" cy="12344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defRPr sz="1500" b="1">
                <a:solidFill>
                  <a:srgbClr val="16A34A"/>
                </a:solidFill>
                <a:latin typeface="Malgun Gothic"/>
              </a:defRPr>
            </a:pPr>
            <a:r>
              <a:t>저장소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SQLite 단일 DB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업로드 원본 및 결과 파일 분리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Git에는 산출물 제외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148840" cy="22860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algun Gothic"/>
              </a:rPr>
              <a:t>day3_rpa 프로젝트 구조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772400" cy="41148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5. API 엔드포인트 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64592"/>
            <a:ext cx="3474720" cy="32004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Malgun Gothic"/>
              </a:rPr>
              <a:t>prefix: /api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51560"/>
            <a:ext cx="2057400" cy="38404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defRPr sz="1500" b="1">
                <a:solidFill>
                  <a:srgbClr val="64748B"/>
                </a:solidFill>
                <a:latin typeface="Malgun Gothic"/>
              </a:defRPr>
            </a:pPr>
            <a:r>
              <a:t>Health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GET /health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GET /db/health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051560"/>
            <a:ext cx="2057400" cy="48006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defRPr sz="1500" b="1">
                <a:solidFill>
                  <a:srgbClr val="2563EB"/>
                </a:solidFill>
                <a:latin typeface="Malgun Gothic"/>
              </a:defRPr>
            </a:pPr>
            <a:r>
              <a:t>Excel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GET /excel/jobs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GET /excel/stored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GET /excel/stored/{id}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POST /excel/upload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POST /excel/split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POST /excel/merge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GET /excel/download/{file}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DELETE /excel/stored/{id}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DELETE /excel/stored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051560"/>
            <a:ext cx="2057400" cy="38404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defRPr sz="1500" b="1">
                <a:solidFill>
                  <a:srgbClr val="EA580C"/>
                </a:solidFill>
                <a:latin typeface="Malgun Gothic"/>
              </a:defRPr>
            </a:pPr>
            <a:r>
              <a:t>Chatbot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GET /chatbot/documents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POST /chatbot/documents/upload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POST /chatbot/train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POST /chatbot/ask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051560"/>
            <a:ext cx="2057400" cy="38404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defRPr sz="1500" b="1">
                <a:solidFill>
                  <a:srgbClr val="16A34A"/>
                </a:solidFill>
                <a:latin typeface="Malgun Gothic"/>
              </a:defRPr>
            </a:pPr>
            <a:r>
              <a:t>News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GET /news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GET /news/jobs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POST /news/collect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38359" y="1051560"/>
            <a:ext cx="2057400" cy="38404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defRPr sz="1500" b="1">
                <a:solidFill>
                  <a:srgbClr val="7C3AED"/>
                </a:solidFill>
                <a:latin typeface="Malgun Gothic"/>
              </a:defRPr>
            </a:pPr>
            <a:r>
              <a:t>Schedules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GET /schedules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0F172A"/>
                </a:solidFill>
                <a:latin typeface="Malgun Gothic"/>
              </a:defRPr>
            </a:pPr>
            <a:r>
              <a:t>프론트 API 클라이언트는 src/shared/api/*에 있고, base.ts가 실제 API Base URL을 조합합니다.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148840" cy="22860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algun Gothic"/>
              </a:rPr>
              <a:t>day3_rpa 프로젝트 구조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772400" cy="41148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6. 기능별 데이터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64592"/>
            <a:ext cx="3474720" cy="32004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Malgun Gothic"/>
              </a:rPr>
              <a:t>Excel / RAG / News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417320" cy="594360"/>
          </a:xfrm>
          <a:prstGeom prst="roundRect">
            <a:avLst/>
          </a:prstGeom>
          <a:solidFill>
            <a:srgbClr val="2563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Excel 자동화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234440"/>
            <a:ext cx="14173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Malgun Gothic"/>
              </a:rPr>
              <a:t>파일 업로드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1531620"/>
            <a:ext cx="41148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14800" y="1234440"/>
            <a:ext cx="14173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Malgun Gothic"/>
              </a:rPr>
              <a:t>컬럼 선택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49040" y="1531620"/>
            <a:ext cx="36576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897879" y="1234440"/>
            <a:ext cx="14173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Malgun Gothic"/>
              </a:rPr>
              <a:t>분리/병합 처리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32120" y="1531620"/>
            <a:ext cx="365759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680959" y="1234440"/>
            <a:ext cx="14173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Malgun Gothic"/>
              </a:rPr>
              <a:t>DB 저장/결과 파일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199" y="1531620"/>
            <a:ext cx="36576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64040" y="1234440"/>
            <a:ext cx="14173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Malgun Gothic"/>
              </a:rPr>
              <a:t>표 조회/다운로드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98279" y="1531620"/>
            <a:ext cx="365761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2920" y="2834640"/>
            <a:ext cx="1417320" cy="594360"/>
          </a:xfrm>
          <a:prstGeom prst="roundRect">
            <a:avLst/>
          </a:prstGeom>
          <a:solidFill>
            <a:srgbClr val="EA580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RAG 챗봇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1720" y="2834640"/>
            <a:ext cx="14173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Malgun Gothic"/>
              </a:rPr>
              <a:t>문서 업로드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20240" y="3131820"/>
            <a:ext cx="41148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14800" y="2834640"/>
            <a:ext cx="14173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Malgun Gothic"/>
              </a:rPr>
              <a:t>텍스트 추출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49040" y="3131820"/>
            <a:ext cx="36576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897879" y="2834640"/>
            <a:ext cx="14173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Malgun Gothic"/>
              </a:rPr>
              <a:t>전처리/청크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532120" y="3131820"/>
            <a:ext cx="365759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680959" y="2834640"/>
            <a:ext cx="14173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Malgun Gothic"/>
              </a:rPr>
              <a:t>OpenAI 임베딩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199" y="3131820"/>
            <a:ext cx="36576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464040" y="2834640"/>
            <a:ext cx="14173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Malgun Gothic"/>
              </a:rPr>
              <a:t>질문 답변/근거 표시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98279" y="3131820"/>
            <a:ext cx="365761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02920" y="4434840"/>
            <a:ext cx="1417320" cy="594360"/>
          </a:xfrm>
          <a:prstGeom prst="roundRect">
            <a:avLst/>
          </a:prstGeom>
          <a:solidFill>
            <a:srgbClr val="16A34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뉴스 수집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31720" y="4434840"/>
            <a:ext cx="14173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Malgun Gothic"/>
              </a:rPr>
              <a:t>날짜 선택/스케줄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920240" y="4732020"/>
            <a:ext cx="411480" cy="0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114800" y="4434840"/>
            <a:ext cx="14173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Malgun Gothic"/>
              </a:rPr>
              <a:t>BS4 크롤링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749040" y="4732020"/>
            <a:ext cx="365760" cy="0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897879" y="4434840"/>
            <a:ext cx="14173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Malgun Gothic"/>
              </a:rPr>
              <a:t>중복 제거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532120" y="4732020"/>
            <a:ext cx="365759" cy="0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680959" y="4434840"/>
            <a:ext cx="14173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Malgun Gothic"/>
              </a:rPr>
              <a:t>SQLite 저장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15199" y="4732020"/>
            <a:ext cx="365760" cy="0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464040" y="4434840"/>
            <a:ext cx="14173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Malgun Gothic"/>
              </a:rPr>
              <a:t>목록 조회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98279" y="4732020"/>
            <a:ext cx="365761" cy="0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601200" y="6510528"/>
            <a:ext cx="2148840" cy="22860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algun Gothic"/>
              </a:rPr>
              <a:t>day3_rpa 프로젝트 구조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772400" cy="41148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7. 설정·배포·보안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64592"/>
            <a:ext cx="3474720" cy="32004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Malgun Gothic"/>
              </a:rPr>
              <a:t>환경변수와 GitHub Pages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05840"/>
            <a:ext cx="3474720" cy="15087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defRPr sz="1500" b="1">
                <a:solidFill>
                  <a:srgbClr val="EA580C"/>
                </a:solidFill>
                <a:latin typeface="Malgun Gothic"/>
              </a:defRPr>
            </a:pPr>
            <a:r>
              <a:t>환경 파일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backend/.env.example: OpenAI/CORS 예시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backend/.env: 실제 키 보관, Git 제외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frontend/.env.example: VITE_API_BASE_URL 예시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005840"/>
            <a:ext cx="3474720" cy="15087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defRPr sz="1500" b="1">
                <a:solidFill>
                  <a:srgbClr val="2563EB"/>
                </a:solidFill>
                <a:latin typeface="Malgun Gothic"/>
              </a:defRPr>
            </a:pPr>
            <a:r>
              <a:t>GitHub Pages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frontend 빌드 결과를 Pages에 배포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.github/workflows/pages.yml 사용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백엔드는 별도 서버 또는 터널 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005840"/>
            <a:ext cx="3154680" cy="15087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defRPr sz="1500" b="1">
                <a:solidFill>
                  <a:srgbClr val="16A34A"/>
                </a:solidFill>
                <a:latin typeface="Malgun Gothic"/>
              </a:defRPr>
            </a:pPr>
            <a:r>
              <a:t>로컬 실행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Frontend: npm run dev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Backend: uv run uvicorn app.main:app --reload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DB: backend/data/app.db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657600"/>
            <a:ext cx="2103120" cy="685800"/>
          </a:xfrm>
          <a:prstGeom prst="roundRect">
            <a:avLst/>
          </a:prstGeom>
          <a:solidFill>
            <a:srgbClr val="F59E0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00" b="1">
                <a:solidFill>
                  <a:srgbClr val="0F172A"/>
                </a:solidFill>
                <a:latin typeface="Malgun Gothic"/>
              </a:rPr>
              <a:t>브라우저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657600"/>
            <a:ext cx="228600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GitHub Pages
정적 FE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3657600"/>
            <a:ext cx="2286000" cy="685800"/>
          </a:xfrm>
          <a:prstGeom prst="roundRect">
            <a:avLst/>
          </a:prstGeom>
          <a:solidFill>
            <a:srgbClr val="0D948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Backend URL
Cloudflared 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3657600"/>
            <a:ext cx="1463040" cy="685800"/>
          </a:xfrm>
          <a:prstGeom prst="roundRect">
            <a:avLst/>
          </a:prstGeom>
          <a:solidFill>
            <a:srgbClr val="16A34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SQLite
파일 저장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7520" y="4000500"/>
            <a:ext cx="6400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4000500"/>
            <a:ext cx="6858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915400" y="4000500"/>
            <a:ext cx="6400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5577840"/>
            <a:ext cx="10607040" cy="45720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DC2626"/>
                </a:solidFill>
                <a:latin typeface="Malgun Gothic"/>
              </a:defRPr>
            </a:pPr>
            <a:r>
              <a:t>보안 기준: 실제 API 키와 업로드/DB 산출물은 커밋하지 않고, 예시 파일만 저장소에 포함합니다.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148840" cy="22860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algun Gothic"/>
              </a:rPr>
              <a:t>day3_rpa 프로젝트 구조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772400" cy="41148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8. 구조 요약 및 점검 포인트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64592"/>
            <a:ext cx="3474720" cy="32004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Malgun Gothic"/>
              </a:rPr>
              <a:t>개발/운영 관점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960120"/>
            <a:ext cx="3429000" cy="18288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defRPr sz="1500" b="1">
                <a:solidFill>
                  <a:srgbClr val="16A34A"/>
                </a:solidFill>
                <a:latin typeface="Malgun Gothic"/>
              </a:defRPr>
            </a:pPr>
            <a:r>
              <a:t>현재 구조의 장점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FE/BE 책임 분리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API 클라이언트가 shared/api로 모여 있음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서비스 계층이 기능별로 분리됨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SQLite 기반 MVP 구현에 적합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960120"/>
            <a:ext cx="3429000" cy="18288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defRPr sz="1500" b="1">
                <a:solidFill>
                  <a:srgbClr val="EA580C"/>
                </a:solidFill>
                <a:latin typeface="Malgun Gothic"/>
              </a:defRPr>
            </a:pPr>
            <a:r>
              <a:t>주의할 점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docs 일부 문서 인코딩 깨짐 확인 필요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backend/data는 백업/보호 정책 필요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OpenAI API 키 유출 방지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GitHub Pages는 백엔드 실행을 포함하지 않음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960120"/>
            <a:ext cx="3291840" cy="18288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defRPr sz="1500" b="1">
                <a:solidFill>
                  <a:srgbClr val="2563EB"/>
                </a:solidFill>
                <a:latin typeface="Malgun Gothic"/>
              </a:defRPr>
            </a:pPr>
            <a:r>
              <a:t>다음 개선 후보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API 테스트 코드 추가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DB migration 도입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업로드 파일 크기 제한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RAG 학습 상태 비동기 작업화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515600" cy="11887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결론: 이 프로젝트는 행정업무용 단일 웹앱입니다. 프론트는 UI와 API 연결을 담당하고, 백엔드는 Excel 처리, 뉴스 수집, RAG 챗봇, SQLite 저장을 담당합니다. 배포 시 프론트는 GitHub Pages, 백엔드는 별도 실행 환경으로 분리하는 것이 핵심입니다.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148840" cy="228600"/>
          </a:xfrm>
          <a:prstGeom prst="rect">
            <a:avLst/>
          </a:prstGeom>
          <a:noFill/>
        </p:spPr>
        <p:txBody>
          <a:bodyPr wrap="none" lIns="109728" rIns="109728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algun Gothic"/>
              </a:rPr>
              <a:t>day3_rpa 프로젝트 구조 |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